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DG Jory" panose="020B0604020202020204" charset="-78"/>
      <p:regular r:id="rId13"/>
    </p:embeddedFont>
    <p:embeddedFont>
      <p:font typeface="DG Jory Bold" panose="020B0604020202020204" charset="-78"/>
      <p:regular r:id="rId14"/>
    </p:embeddedFont>
    <p:embeddedFont>
      <p:font typeface="League Spartan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47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g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jps-visualizer-final.vercel.app/" TargetMode="External"/><Relationship Id="rId4" Type="http://schemas.openxmlformats.org/officeDocument/2006/relationships/hyperlink" Target="https://github.com/jps-visualizer/JPS-visualize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680067" y="4897467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flipH="1" flipV="1">
            <a:off x="14607933" y="-126175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14607933" y="5926167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 flipH="1" flipV="1">
            <a:off x="-3680067" y="-2511057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3651621" y="5916642"/>
            <a:ext cx="10984759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80"/>
              </a:lnSpc>
            </a:pPr>
            <a:r>
              <a:rPr lang="en-US" sz="3400" dirty="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By: Kushagra Gupta(24BCE1671) &amp; Riddhima Singhal (24BCE1157)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610117" y="3312836"/>
            <a:ext cx="9067766" cy="1830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34"/>
              </a:lnSpc>
            </a:pPr>
            <a:r>
              <a:rPr lang="en-US" sz="6028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JUMP POINT SEARCH (JPS) VISUALIZER</a:t>
            </a:r>
          </a:p>
        </p:txBody>
      </p:sp>
      <p:sp>
        <p:nvSpPr>
          <p:cNvPr id="8" name="AutoShape 8"/>
          <p:cNvSpPr/>
          <p:nvPr/>
        </p:nvSpPr>
        <p:spPr>
          <a:xfrm>
            <a:off x="7866590" y="5536491"/>
            <a:ext cx="2554819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3921" y="1028700"/>
            <a:ext cx="6299096" cy="1966321"/>
            <a:chOff x="0" y="0"/>
            <a:chExt cx="8398794" cy="2621762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8204187" cy="2427154"/>
              <a:chOff x="0" y="0"/>
              <a:chExt cx="2747400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747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747400" h="812800">
                    <a:moveTo>
                      <a:pt x="2747400" y="0"/>
                    </a:moveTo>
                    <a:lnTo>
                      <a:pt x="0" y="0"/>
                    </a:lnTo>
                    <a:lnTo>
                      <a:pt x="0" y="624840"/>
                    </a:lnTo>
                    <a:lnTo>
                      <a:pt x="157480" y="624840"/>
                    </a:lnTo>
                    <a:lnTo>
                      <a:pt x="157480" y="812800"/>
                    </a:lnTo>
                    <a:lnTo>
                      <a:pt x="463550" y="624840"/>
                    </a:lnTo>
                    <a:lnTo>
                      <a:pt x="2747400" y="624840"/>
                    </a:lnTo>
                    <a:lnTo>
                      <a:pt x="2747400" y="0"/>
                    </a:lnTo>
                    <a:close/>
                  </a:path>
                </a:pathLst>
              </a:custGeom>
              <a:solidFill>
                <a:srgbClr val="9BDAE9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2747400" cy="6699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94608" y="194608"/>
              <a:ext cx="8204187" cy="2427154"/>
              <a:chOff x="0" y="0"/>
              <a:chExt cx="27474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747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747400" h="812800">
                    <a:moveTo>
                      <a:pt x="2747400" y="0"/>
                    </a:moveTo>
                    <a:lnTo>
                      <a:pt x="0" y="0"/>
                    </a:lnTo>
                    <a:lnTo>
                      <a:pt x="0" y="624840"/>
                    </a:lnTo>
                    <a:lnTo>
                      <a:pt x="157480" y="624840"/>
                    </a:lnTo>
                    <a:lnTo>
                      <a:pt x="157480" y="812800"/>
                    </a:lnTo>
                    <a:lnTo>
                      <a:pt x="463550" y="624840"/>
                    </a:lnTo>
                    <a:lnTo>
                      <a:pt x="2747400" y="624840"/>
                    </a:lnTo>
                    <a:lnTo>
                      <a:pt x="27474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6C3D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2747400" cy="6699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148587" y="691747"/>
              <a:ext cx="8055600" cy="16648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06"/>
                </a:lnSpc>
              </a:pPr>
              <a:r>
                <a:rPr lang="en-US" sz="4088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 PROJECT OVERVIEW</a:t>
              </a:r>
            </a:p>
            <a:p>
              <a:pPr algn="ctr">
                <a:lnSpc>
                  <a:spcPts val="4906"/>
                </a:lnSpc>
              </a:pPr>
              <a:endParaRPr lang="en-US" sz="4088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28700" y="3656160"/>
            <a:ext cx="6515592" cy="5602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4431" lvl="1" indent="-382216" algn="l">
              <a:lnSpc>
                <a:spcPts val="4956"/>
              </a:lnSpc>
              <a:buFont typeface="Arial"/>
              <a:buChar char="•"/>
            </a:pPr>
            <a:r>
              <a:rPr lang="en-US" sz="354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Interactive web tool for finding shortest paths on a grid</a:t>
            </a:r>
          </a:p>
          <a:p>
            <a:pPr marL="764431" lvl="1" indent="-382216" algn="l">
              <a:lnSpc>
                <a:spcPts val="4956"/>
              </a:lnSpc>
              <a:buFont typeface="Arial"/>
              <a:buChar char="•"/>
            </a:pPr>
            <a:r>
              <a:rPr lang="en-US" sz="354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User sets start/goal, creates walls, and controls animation speed with a speed bar</a:t>
            </a:r>
          </a:p>
          <a:p>
            <a:pPr marL="764431" lvl="1" indent="-382216" algn="l">
              <a:lnSpc>
                <a:spcPts val="4956"/>
              </a:lnSpc>
              <a:buFont typeface="Arial"/>
              <a:buChar char="•"/>
            </a:pPr>
            <a:r>
              <a:rPr lang="en-US" sz="354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Shows shortest path using JPS (Jump Point Search)—can clear path or reset grid instantl</a:t>
            </a:r>
          </a:p>
          <a:p>
            <a:pPr algn="l">
              <a:lnSpc>
                <a:spcPts val="4956"/>
              </a:lnSpc>
            </a:pPr>
            <a:endParaRPr lang="en-US" sz="3540">
              <a:solidFill>
                <a:srgbClr val="000000"/>
              </a:solidFill>
              <a:latin typeface="DG Jory"/>
              <a:ea typeface="DG Jory"/>
              <a:cs typeface="DG Jory"/>
              <a:sym typeface="DG Jory"/>
            </a:endParaRPr>
          </a:p>
        </p:txBody>
      </p:sp>
      <p:sp>
        <p:nvSpPr>
          <p:cNvPr id="11" name="Freeform 11"/>
          <p:cNvSpPr/>
          <p:nvPr/>
        </p:nvSpPr>
        <p:spPr>
          <a:xfrm flipH="1" flipV="1">
            <a:off x="13914141" y="-810161"/>
            <a:ext cx="9287959" cy="8409825"/>
          </a:xfrm>
          <a:custGeom>
            <a:avLst/>
            <a:gdLst/>
            <a:ahLst/>
            <a:cxnLst/>
            <a:rect l="l" t="t" r="r" b="b"/>
            <a:pathLst>
              <a:path w="9287959" h="8409825">
                <a:moveTo>
                  <a:pt x="9287959" y="8409825"/>
                </a:moveTo>
                <a:lnTo>
                  <a:pt x="0" y="8409825"/>
                </a:lnTo>
                <a:lnTo>
                  <a:pt x="0" y="0"/>
                </a:lnTo>
                <a:lnTo>
                  <a:pt x="9287959" y="0"/>
                </a:lnTo>
                <a:lnTo>
                  <a:pt x="9287959" y="840982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Freeform 12"/>
          <p:cNvSpPr/>
          <p:nvPr/>
        </p:nvSpPr>
        <p:spPr>
          <a:xfrm>
            <a:off x="14607933" y="8049787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7"/>
                </a:lnTo>
                <a:lnTo>
                  <a:pt x="0" y="66642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3" name="Freeform 13"/>
          <p:cNvSpPr/>
          <p:nvPr/>
        </p:nvSpPr>
        <p:spPr>
          <a:xfrm>
            <a:off x="8867643" y="3394751"/>
            <a:ext cx="7200940" cy="5278544"/>
          </a:xfrm>
          <a:custGeom>
            <a:avLst/>
            <a:gdLst/>
            <a:ahLst/>
            <a:cxnLst/>
            <a:rect l="l" t="t" r="r" b="b"/>
            <a:pathLst>
              <a:path w="7200940" h="5278544">
                <a:moveTo>
                  <a:pt x="0" y="0"/>
                </a:moveTo>
                <a:lnTo>
                  <a:pt x="7200940" y="0"/>
                </a:lnTo>
                <a:lnTo>
                  <a:pt x="7200940" y="5278544"/>
                </a:lnTo>
                <a:lnTo>
                  <a:pt x="0" y="52785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1675" r="-31675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Freeform 14"/>
          <p:cNvSpPr/>
          <p:nvPr/>
        </p:nvSpPr>
        <p:spPr>
          <a:xfrm flipH="1">
            <a:off x="8303269" y="8738243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3" y="0"/>
                </a:moveTo>
                <a:lnTo>
                  <a:pt x="0" y="0"/>
                </a:lnTo>
                <a:lnTo>
                  <a:pt x="0" y="6664266"/>
                </a:lnTo>
                <a:lnTo>
                  <a:pt x="7360133" y="6664266"/>
                </a:lnTo>
                <a:lnTo>
                  <a:pt x="736013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265461" y="3631055"/>
            <a:ext cx="11757078" cy="6171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40496" lvl="1" indent="-420248" algn="l">
              <a:lnSpc>
                <a:spcPts val="5450"/>
              </a:lnSpc>
              <a:buFont typeface="Arial"/>
              <a:buChar char="•"/>
            </a:pPr>
            <a:r>
              <a:rPr lang="en-US" sz="3892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How do we find the shortest route across a map with obstacles?</a:t>
            </a:r>
          </a:p>
          <a:p>
            <a:pPr marL="840496" lvl="1" indent="-420248" algn="l">
              <a:lnSpc>
                <a:spcPts val="5450"/>
              </a:lnSpc>
              <a:buFont typeface="Arial"/>
              <a:buChar char="•"/>
            </a:pPr>
            <a:r>
              <a:rPr lang="en-US" sz="3892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This challenge is common in video games (enemy chasing), robotics (robot navigation), and mapping software.</a:t>
            </a:r>
          </a:p>
          <a:p>
            <a:pPr marL="840496" lvl="1" indent="-420248" algn="l">
              <a:lnSpc>
                <a:spcPts val="5450"/>
              </a:lnSpc>
              <a:buFont typeface="Arial"/>
              <a:buChar char="•"/>
            </a:pPr>
            <a:r>
              <a:rPr lang="en-US" sz="3892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Standard algorithms can be slow or check too many grid points; a smarter approach improves speed and user experience.</a:t>
            </a:r>
          </a:p>
          <a:p>
            <a:pPr algn="l">
              <a:lnSpc>
                <a:spcPts val="5450"/>
              </a:lnSpc>
            </a:pPr>
            <a:endParaRPr lang="en-US" sz="3892">
              <a:solidFill>
                <a:srgbClr val="000000"/>
              </a:solidFill>
              <a:latin typeface="DG Jory"/>
              <a:ea typeface="DG Jory"/>
              <a:cs typeface="DG Jory"/>
              <a:sym typeface="DG Jory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6075846" y="1028700"/>
            <a:ext cx="6136308" cy="1915506"/>
            <a:chOff x="0" y="0"/>
            <a:chExt cx="8181744" cy="2554008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7992166" cy="2364429"/>
              <a:chOff x="0" y="0"/>
              <a:chExt cx="2747400" cy="8128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2747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747400" h="812800">
                    <a:moveTo>
                      <a:pt x="2747400" y="0"/>
                    </a:moveTo>
                    <a:lnTo>
                      <a:pt x="0" y="0"/>
                    </a:lnTo>
                    <a:lnTo>
                      <a:pt x="0" y="624840"/>
                    </a:lnTo>
                    <a:lnTo>
                      <a:pt x="157480" y="624840"/>
                    </a:lnTo>
                    <a:lnTo>
                      <a:pt x="157480" y="812800"/>
                    </a:lnTo>
                    <a:lnTo>
                      <a:pt x="463550" y="624840"/>
                    </a:lnTo>
                    <a:lnTo>
                      <a:pt x="2747400" y="624840"/>
                    </a:lnTo>
                    <a:lnTo>
                      <a:pt x="2747400" y="0"/>
                    </a:lnTo>
                    <a:close/>
                  </a:path>
                </a:pathLst>
              </a:custGeom>
              <a:solidFill>
                <a:srgbClr val="9BDAE9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47625"/>
                <a:ext cx="2747400" cy="6699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89578" y="189578"/>
              <a:ext cx="7992166" cy="2364429"/>
              <a:chOff x="0" y="0"/>
              <a:chExt cx="2747400" cy="8128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747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747400" h="812800">
                    <a:moveTo>
                      <a:pt x="2747400" y="0"/>
                    </a:moveTo>
                    <a:lnTo>
                      <a:pt x="0" y="0"/>
                    </a:lnTo>
                    <a:lnTo>
                      <a:pt x="0" y="624840"/>
                    </a:lnTo>
                    <a:lnTo>
                      <a:pt x="157480" y="624840"/>
                    </a:lnTo>
                    <a:lnTo>
                      <a:pt x="157480" y="812800"/>
                    </a:lnTo>
                    <a:lnTo>
                      <a:pt x="463550" y="624840"/>
                    </a:lnTo>
                    <a:lnTo>
                      <a:pt x="2747400" y="624840"/>
                    </a:lnTo>
                    <a:lnTo>
                      <a:pt x="27474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6C3D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47625"/>
                <a:ext cx="2747400" cy="6699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144747" y="683149"/>
              <a:ext cx="8036997" cy="9981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917"/>
                </a:lnSpc>
              </a:pPr>
              <a:r>
                <a:rPr lang="en-US" sz="4930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CORE PROBLEM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-3680067" y="4897467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Freeform 12"/>
          <p:cNvSpPr/>
          <p:nvPr/>
        </p:nvSpPr>
        <p:spPr>
          <a:xfrm flipH="1" flipV="1">
            <a:off x="14607933" y="-126175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Freeform 13"/>
          <p:cNvSpPr/>
          <p:nvPr/>
        </p:nvSpPr>
        <p:spPr>
          <a:xfrm>
            <a:off x="14757022" y="6029979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4" name="Freeform 14"/>
          <p:cNvSpPr/>
          <p:nvPr/>
        </p:nvSpPr>
        <p:spPr>
          <a:xfrm flipH="1" flipV="1">
            <a:off x="-3031796" y="-2947486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3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3" y="0"/>
                </a:lnTo>
                <a:lnTo>
                  <a:pt x="7360133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680067" y="4897467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flipH="1" flipV="1">
            <a:off x="14607933" y="-126175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 flipH="1" flipV="1">
            <a:off x="-3530978" y="-240724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3532846" y="4180821"/>
            <a:ext cx="11839382" cy="5397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8353" lvl="1" indent="-414177" algn="l">
              <a:lnSpc>
                <a:spcPts val="5371"/>
              </a:lnSpc>
              <a:buFont typeface="Arial"/>
              <a:buChar char="•"/>
            </a:pPr>
            <a:r>
              <a:rPr lang="en-US" sz="3836" b="1">
                <a:solidFill>
                  <a:srgbClr val="000000"/>
                </a:solidFill>
                <a:latin typeface="DG Jory Bold"/>
                <a:ea typeface="DG Jory Bold"/>
                <a:cs typeface="DG Jory Bold"/>
                <a:sym typeface="DG Jory Bold"/>
              </a:rPr>
              <a:t>Jump Point Search (JPS)</a:t>
            </a:r>
            <a:r>
              <a:rPr lang="en-US" sz="3836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: A specialized algorithm for grid pathfinding.</a:t>
            </a:r>
          </a:p>
          <a:p>
            <a:pPr marL="828353" lvl="1" indent="-414177" algn="l">
              <a:lnSpc>
                <a:spcPts val="5371"/>
              </a:lnSpc>
              <a:buFont typeface="Arial"/>
              <a:buChar char="•"/>
            </a:pPr>
            <a:r>
              <a:rPr lang="en-US" sz="3836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Users click to set start, goal, and draw/remove walls</a:t>
            </a:r>
          </a:p>
          <a:p>
            <a:pPr marL="828353" lvl="1" indent="-414177" algn="l">
              <a:lnSpc>
                <a:spcPts val="5371"/>
              </a:lnSpc>
              <a:buFont typeface="Arial"/>
              <a:buChar char="•"/>
            </a:pPr>
            <a:r>
              <a:rPr lang="en-US" sz="3836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Speed bar lets you slow down or speed up the path discovery animation to observe each step</a:t>
            </a:r>
          </a:p>
          <a:p>
            <a:pPr marL="828353" lvl="1" indent="-414177" algn="l">
              <a:lnSpc>
                <a:spcPts val="5371"/>
              </a:lnSpc>
              <a:buFont typeface="Arial"/>
              <a:buChar char="•"/>
            </a:pPr>
            <a:r>
              <a:rPr lang="en-US" sz="3836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Visual feedback makes it easy for users to understand the grid and the computed path.</a:t>
            </a:r>
          </a:p>
          <a:p>
            <a:pPr algn="l">
              <a:lnSpc>
                <a:spcPts val="5371"/>
              </a:lnSpc>
            </a:pPr>
            <a:endParaRPr lang="en-US" sz="3836">
              <a:solidFill>
                <a:srgbClr val="000000"/>
              </a:solidFill>
              <a:latin typeface="DG Jory"/>
              <a:ea typeface="DG Jory"/>
              <a:cs typeface="DG Jory"/>
              <a:sym typeface="DG Jory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5768176" y="1309938"/>
            <a:ext cx="7034976" cy="1951148"/>
            <a:chOff x="0" y="0"/>
            <a:chExt cx="2930597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930597" cy="812800"/>
            </a:xfrm>
            <a:custGeom>
              <a:avLst/>
              <a:gdLst/>
              <a:ahLst/>
              <a:cxnLst/>
              <a:rect l="l" t="t" r="r" b="b"/>
              <a:pathLst>
                <a:path w="2930597" h="812800">
                  <a:moveTo>
                    <a:pt x="2930597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930597" y="624840"/>
                  </a:lnTo>
                  <a:lnTo>
                    <a:pt x="2930597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2930597" cy="669925"/>
            </a:xfrm>
            <a:prstGeom prst="rect">
              <a:avLst/>
            </a:prstGeom>
          </p:spPr>
          <p:txBody>
            <a:bodyPr lIns="55894" tIns="55894" rIns="55894" bIns="55894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935049" y="1466380"/>
            <a:ext cx="7034976" cy="1951148"/>
            <a:chOff x="0" y="0"/>
            <a:chExt cx="2930597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930597" cy="812800"/>
            </a:xfrm>
            <a:custGeom>
              <a:avLst/>
              <a:gdLst/>
              <a:ahLst/>
              <a:cxnLst/>
              <a:rect l="l" t="t" r="r" b="b"/>
              <a:pathLst>
                <a:path w="2930597" h="812800">
                  <a:moveTo>
                    <a:pt x="2930597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930597" y="624840"/>
                  </a:lnTo>
                  <a:lnTo>
                    <a:pt x="2930597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6C3D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930597" cy="669925"/>
            </a:xfrm>
            <a:prstGeom prst="rect">
              <a:avLst/>
            </a:prstGeom>
          </p:spPr>
          <p:txBody>
            <a:bodyPr lIns="55894" tIns="55894" rIns="55894" bIns="55894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5935049" y="1936156"/>
            <a:ext cx="7024822" cy="1324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36"/>
              </a:lnSpc>
            </a:pPr>
            <a:r>
              <a:rPr lang="en-US" sz="4363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SOLUTION APPROACH</a:t>
            </a:r>
          </a:p>
          <a:p>
            <a:pPr algn="ctr">
              <a:lnSpc>
                <a:spcPts val="5236"/>
              </a:lnSpc>
            </a:pPr>
            <a:endParaRPr lang="en-US" sz="4363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3" name="Freeform 13"/>
          <p:cNvSpPr/>
          <p:nvPr/>
        </p:nvSpPr>
        <p:spPr>
          <a:xfrm>
            <a:off x="14757022" y="6029979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4">
            <a:extLst>
              <a:ext uri="{FF2B5EF4-FFF2-40B4-BE49-F238E27FC236}">
                <a16:creationId xmlns:a16="http://schemas.microsoft.com/office/drawing/2014/main" id="{00C15E38-CFB5-1364-5DE2-25C169CBEBB5}"/>
              </a:ext>
            </a:extLst>
          </p:cNvPr>
          <p:cNvSpPr/>
          <p:nvPr/>
        </p:nvSpPr>
        <p:spPr>
          <a:xfrm>
            <a:off x="14757022" y="6029979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2" name="Freeform 2"/>
          <p:cNvSpPr/>
          <p:nvPr/>
        </p:nvSpPr>
        <p:spPr>
          <a:xfrm>
            <a:off x="-3680067" y="4897467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flipH="1" flipV="1">
            <a:off x="14607933" y="-126175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 flipH="1" flipV="1">
            <a:off x="-3530978" y="-240724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grpSp>
        <p:nvGrpSpPr>
          <p:cNvPr id="5" name="Group 5"/>
          <p:cNvGrpSpPr/>
          <p:nvPr/>
        </p:nvGrpSpPr>
        <p:grpSpPr>
          <a:xfrm>
            <a:off x="5543075" y="702167"/>
            <a:ext cx="7201849" cy="2107590"/>
            <a:chOff x="0" y="0"/>
            <a:chExt cx="9602465" cy="2810120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9379968" cy="2601531"/>
              <a:chOff x="0" y="0"/>
              <a:chExt cx="2930597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930597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930597" h="812800">
                    <a:moveTo>
                      <a:pt x="2930597" y="0"/>
                    </a:moveTo>
                    <a:lnTo>
                      <a:pt x="0" y="0"/>
                    </a:lnTo>
                    <a:lnTo>
                      <a:pt x="0" y="624840"/>
                    </a:lnTo>
                    <a:lnTo>
                      <a:pt x="157480" y="624840"/>
                    </a:lnTo>
                    <a:lnTo>
                      <a:pt x="157480" y="812800"/>
                    </a:lnTo>
                    <a:lnTo>
                      <a:pt x="463550" y="624840"/>
                    </a:lnTo>
                    <a:lnTo>
                      <a:pt x="2930597" y="624840"/>
                    </a:lnTo>
                    <a:lnTo>
                      <a:pt x="2930597" y="0"/>
                    </a:lnTo>
                    <a:close/>
                  </a:path>
                </a:pathLst>
              </a:custGeom>
              <a:solidFill>
                <a:srgbClr val="9BDAE9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2930597" cy="669925"/>
              </a:xfrm>
              <a:prstGeom prst="rect">
                <a:avLst/>
              </a:prstGeom>
            </p:spPr>
            <p:txBody>
              <a:bodyPr lIns="55894" tIns="55894" rIns="55894" bIns="55894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222498" y="208589"/>
              <a:ext cx="9379968" cy="2601531"/>
              <a:chOff x="0" y="0"/>
              <a:chExt cx="2930597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930597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930597" h="812800">
                    <a:moveTo>
                      <a:pt x="2930597" y="0"/>
                    </a:moveTo>
                    <a:lnTo>
                      <a:pt x="0" y="0"/>
                    </a:lnTo>
                    <a:lnTo>
                      <a:pt x="0" y="624840"/>
                    </a:lnTo>
                    <a:lnTo>
                      <a:pt x="157480" y="624840"/>
                    </a:lnTo>
                    <a:lnTo>
                      <a:pt x="157480" y="812800"/>
                    </a:lnTo>
                    <a:lnTo>
                      <a:pt x="463550" y="624840"/>
                    </a:lnTo>
                    <a:lnTo>
                      <a:pt x="2930597" y="624840"/>
                    </a:lnTo>
                    <a:lnTo>
                      <a:pt x="2930597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6C3D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47625"/>
                <a:ext cx="2930597" cy="669925"/>
              </a:xfrm>
              <a:prstGeom prst="rect">
                <a:avLst/>
              </a:prstGeom>
            </p:spPr>
            <p:txBody>
              <a:bodyPr lIns="55894" tIns="55894" rIns="55894" bIns="55894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222498" y="834957"/>
              <a:ext cx="9366430" cy="8832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236"/>
                </a:lnSpc>
              </a:pPr>
              <a:r>
                <a:rPr lang="en-US" sz="4363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ALGORITHM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3217777" y="3018395"/>
            <a:ext cx="6661205" cy="7588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40"/>
              </a:lnSpc>
            </a:pPr>
            <a:r>
              <a:rPr lang="en-US" sz="310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JUMP-SEARCH(arr, n, key)</a:t>
            </a:r>
          </a:p>
          <a:p>
            <a:pPr algn="l">
              <a:lnSpc>
                <a:spcPts val="4340"/>
              </a:lnSpc>
            </a:pPr>
            <a:r>
              <a:rPr lang="en-US" sz="310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    step ← √n</a:t>
            </a:r>
          </a:p>
          <a:p>
            <a:pPr algn="l">
              <a:lnSpc>
                <a:spcPts val="4340"/>
              </a:lnSpc>
            </a:pPr>
            <a:r>
              <a:rPr lang="en-US" sz="310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    prev ← 0</a:t>
            </a:r>
          </a:p>
          <a:p>
            <a:pPr algn="l">
              <a:lnSpc>
                <a:spcPts val="4340"/>
              </a:lnSpc>
            </a:pPr>
            <a:endParaRPr lang="en-US" sz="3100">
              <a:solidFill>
                <a:srgbClr val="000000"/>
              </a:solidFill>
              <a:latin typeface="DG Jory"/>
              <a:ea typeface="DG Jory"/>
              <a:cs typeface="DG Jory"/>
              <a:sym typeface="DG Jory"/>
            </a:endParaRPr>
          </a:p>
          <a:p>
            <a:pPr algn="l">
              <a:lnSpc>
                <a:spcPts val="4340"/>
              </a:lnSpc>
            </a:pPr>
            <a:r>
              <a:rPr lang="en-US" sz="310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    </a:t>
            </a:r>
            <a:r>
              <a:rPr lang="en-US" sz="3100" b="1">
                <a:solidFill>
                  <a:srgbClr val="000000"/>
                </a:solidFill>
                <a:latin typeface="DG Jory Bold"/>
                <a:ea typeface="DG Jory Bold"/>
                <a:cs typeface="DG Jory Bold"/>
                <a:sym typeface="DG Jory Bold"/>
              </a:rPr>
              <a:t>// Finding the block where the element may be present</a:t>
            </a:r>
          </a:p>
          <a:p>
            <a:pPr algn="l">
              <a:lnSpc>
                <a:spcPts val="4340"/>
              </a:lnSpc>
            </a:pPr>
            <a:r>
              <a:rPr lang="en-US" sz="310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    while arr[min(step, n) - 1] &lt; key do</a:t>
            </a:r>
          </a:p>
          <a:p>
            <a:pPr algn="l">
              <a:lnSpc>
                <a:spcPts val="4340"/>
              </a:lnSpc>
            </a:pPr>
            <a:r>
              <a:rPr lang="en-US" sz="310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        prev ← step</a:t>
            </a:r>
          </a:p>
          <a:p>
            <a:pPr algn="l">
              <a:lnSpc>
                <a:spcPts val="4340"/>
              </a:lnSpc>
            </a:pPr>
            <a:r>
              <a:rPr lang="en-US" sz="310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        step ← step + √n</a:t>
            </a:r>
          </a:p>
          <a:p>
            <a:pPr algn="l">
              <a:lnSpc>
                <a:spcPts val="4340"/>
              </a:lnSpc>
            </a:pPr>
            <a:r>
              <a:rPr lang="en-US" sz="310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        if prev ≥ n then</a:t>
            </a:r>
          </a:p>
          <a:p>
            <a:pPr algn="l">
              <a:lnSpc>
                <a:spcPts val="4340"/>
              </a:lnSpc>
            </a:pPr>
            <a:r>
              <a:rPr lang="en-US" sz="310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            return "Not Found"</a:t>
            </a:r>
          </a:p>
          <a:p>
            <a:pPr algn="l">
              <a:lnSpc>
                <a:spcPts val="4340"/>
              </a:lnSpc>
            </a:pPr>
            <a:endParaRPr lang="en-US" sz="3100">
              <a:solidFill>
                <a:srgbClr val="000000"/>
              </a:solidFill>
              <a:latin typeface="DG Jory"/>
              <a:ea typeface="DG Jory"/>
              <a:cs typeface="DG Jory"/>
              <a:sym typeface="DG Jory"/>
            </a:endParaRPr>
          </a:p>
          <a:p>
            <a:pPr algn="l">
              <a:lnSpc>
                <a:spcPts val="4340"/>
              </a:lnSpc>
            </a:pPr>
            <a:r>
              <a:rPr lang="en-US" sz="310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   </a:t>
            </a:r>
          </a:p>
          <a:p>
            <a:pPr algn="l">
              <a:lnSpc>
                <a:spcPts val="4340"/>
              </a:lnSpc>
            </a:pPr>
            <a:endParaRPr lang="en-US" sz="3100">
              <a:solidFill>
                <a:srgbClr val="000000"/>
              </a:solidFill>
              <a:latin typeface="DG Jory"/>
              <a:ea typeface="DG Jory"/>
              <a:cs typeface="DG Jory"/>
              <a:sym typeface="DG Jory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638593" y="3018395"/>
            <a:ext cx="6793711" cy="6617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9"/>
              </a:lnSpc>
            </a:pPr>
            <a:r>
              <a:rPr lang="en-US" sz="3085" b="1" dirty="0">
                <a:solidFill>
                  <a:srgbClr val="000000"/>
                </a:solidFill>
                <a:latin typeface="DG Jory Bold"/>
                <a:ea typeface="DG Jory Bold"/>
                <a:cs typeface="DG Jory Bold"/>
                <a:sym typeface="DG Jory Bold"/>
              </a:rPr>
              <a:t> // Linear search within the identified block</a:t>
            </a:r>
          </a:p>
          <a:p>
            <a:pPr algn="l">
              <a:lnSpc>
                <a:spcPts val="4319"/>
              </a:lnSpc>
            </a:pPr>
            <a:r>
              <a:rPr lang="en-US" sz="3085" dirty="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 while </a:t>
            </a:r>
            <a:r>
              <a:rPr lang="en-US" sz="3085" dirty="0" err="1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arr</a:t>
            </a:r>
            <a:r>
              <a:rPr lang="en-US" sz="3085" dirty="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[</a:t>
            </a:r>
            <a:r>
              <a:rPr lang="en-US" sz="3085" dirty="0" err="1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prev</a:t>
            </a:r>
            <a:r>
              <a:rPr lang="en-US" sz="3085" dirty="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] &lt; key do</a:t>
            </a:r>
          </a:p>
          <a:p>
            <a:pPr algn="l">
              <a:lnSpc>
                <a:spcPts val="4319"/>
              </a:lnSpc>
            </a:pPr>
            <a:r>
              <a:rPr lang="en-US" sz="3085" dirty="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 </a:t>
            </a:r>
            <a:r>
              <a:rPr lang="en-US" sz="3085" dirty="0" err="1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prev</a:t>
            </a:r>
            <a:r>
              <a:rPr lang="en-US" sz="3085" dirty="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 ← </a:t>
            </a:r>
            <a:r>
              <a:rPr lang="en-US" sz="3085" dirty="0" err="1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prev</a:t>
            </a:r>
            <a:r>
              <a:rPr lang="en-US" sz="3085" dirty="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 + 1</a:t>
            </a:r>
          </a:p>
          <a:p>
            <a:pPr algn="l">
              <a:lnSpc>
                <a:spcPts val="4319"/>
              </a:lnSpc>
            </a:pPr>
            <a:r>
              <a:rPr lang="en-US" sz="3085" dirty="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 if </a:t>
            </a:r>
            <a:r>
              <a:rPr lang="en-US" sz="3085" dirty="0" err="1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prev</a:t>
            </a:r>
            <a:r>
              <a:rPr lang="en-US" sz="3085" dirty="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 = min(step, n) then</a:t>
            </a:r>
          </a:p>
          <a:p>
            <a:pPr algn="l">
              <a:lnSpc>
                <a:spcPts val="4319"/>
              </a:lnSpc>
            </a:pPr>
            <a:r>
              <a:rPr lang="en-US" sz="3085" dirty="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 return "Not Found"</a:t>
            </a:r>
          </a:p>
          <a:p>
            <a:pPr algn="l">
              <a:lnSpc>
                <a:spcPts val="4319"/>
              </a:lnSpc>
            </a:pPr>
            <a:endParaRPr lang="en-US" sz="3085" dirty="0">
              <a:solidFill>
                <a:srgbClr val="000000"/>
              </a:solidFill>
              <a:latin typeface="DG Jory"/>
              <a:ea typeface="DG Jory"/>
              <a:cs typeface="DG Jory"/>
              <a:sym typeface="DG Jory"/>
            </a:endParaRPr>
          </a:p>
          <a:p>
            <a:pPr algn="l">
              <a:lnSpc>
                <a:spcPts val="4319"/>
              </a:lnSpc>
            </a:pPr>
            <a:r>
              <a:rPr lang="en-US" sz="3085" dirty="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 if </a:t>
            </a:r>
            <a:r>
              <a:rPr lang="en-US" sz="3085" dirty="0" err="1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arr</a:t>
            </a:r>
            <a:r>
              <a:rPr lang="en-US" sz="3085" dirty="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[</a:t>
            </a:r>
            <a:r>
              <a:rPr lang="en-US" sz="3085" dirty="0" err="1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prev</a:t>
            </a:r>
            <a:r>
              <a:rPr lang="en-US" sz="3085" dirty="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] = key then</a:t>
            </a:r>
          </a:p>
          <a:p>
            <a:pPr algn="l">
              <a:lnSpc>
                <a:spcPts val="4319"/>
              </a:lnSpc>
            </a:pPr>
            <a:r>
              <a:rPr lang="en-US" sz="3085" dirty="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 return </a:t>
            </a:r>
            <a:r>
              <a:rPr lang="en-US" sz="3085" dirty="0" err="1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prev</a:t>
            </a:r>
            <a:r>
              <a:rPr lang="en-US" sz="3085" dirty="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 </a:t>
            </a:r>
          </a:p>
          <a:p>
            <a:pPr algn="l">
              <a:lnSpc>
                <a:spcPts val="4319"/>
              </a:lnSpc>
            </a:pPr>
            <a:r>
              <a:rPr lang="en-US" sz="3085" b="1" dirty="0">
                <a:solidFill>
                  <a:srgbClr val="000000"/>
                </a:solidFill>
                <a:latin typeface="DG Jory Bold"/>
                <a:ea typeface="DG Jory Bold"/>
                <a:cs typeface="DG Jory Bold"/>
                <a:sym typeface="DG Jory Bold"/>
              </a:rPr>
              <a:t>// Element found at index</a:t>
            </a:r>
            <a:r>
              <a:rPr lang="en-US" sz="3085" dirty="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 </a:t>
            </a:r>
            <a:r>
              <a:rPr lang="en-US" sz="3085" b="1" dirty="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'</a:t>
            </a:r>
            <a:r>
              <a:rPr lang="en-US" sz="3085" b="1" dirty="0" err="1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prev</a:t>
            </a:r>
            <a:r>
              <a:rPr lang="en-US" sz="3085" b="1" dirty="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'</a:t>
            </a:r>
          </a:p>
          <a:p>
            <a:pPr algn="l">
              <a:lnSpc>
                <a:spcPts val="4319"/>
              </a:lnSpc>
            </a:pPr>
            <a:endParaRPr lang="en-US" sz="3085" dirty="0">
              <a:solidFill>
                <a:srgbClr val="000000"/>
              </a:solidFill>
              <a:latin typeface="DG Jory"/>
              <a:ea typeface="DG Jory"/>
              <a:cs typeface="DG Jory"/>
              <a:sym typeface="DG Jory"/>
            </a:endParaRPr>
          </a:p>
          <a:p>
            <a:pPr algn="l">
              <a:lnSpc>
                <a:spcPts val="4319"/>
              </a:lnSpc>
            </a:pPr>
            <a:r>
              <a:rPr lang="en-US" sz="3085" dirty="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 return "Not Found"</a:t>
            </a:r>
          </a:p>
          <a:p>
            <a:pPr algn="l">
              <a:lnSpc>
                <a:spcPts val="4319"/>
              </a:lnSpc>
            </a:pPr>
            <a:endParaRPr lang="en-US" sz="3085" dirty="0">
              <a:solidFill>
                <a:srgbClr val="000000"/>
              </a:solidFill>
              <a:latin typeface="DG Jory"/>
              <a:ea typeface="DG Jory"/>
              <a:cs typeface="DG Jory"/>
              <a:sym typeface="DG Jor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680067" y="4897467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flipH="1" flipV="1">
            <a:off x="14607933" y="-126175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14757022" y="6029979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 flipH="1" flipV="1">
            <a:off x="-3530978" y="-240724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3459653" y="3888677"/>
            <a:ext cx="11368693" cy="5369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1006" lvl="1" indent="-365503" algn="l">
              <a:lnSpc>
                <a:spcPts val="4740"/>
              </a:lnSpc>
              <a:buFont typeface="Arial"/>
              <a:buChar char="•"/>
            </a:pPr>
            <a:r>
              <a:rPr lang="en-US" sz="3385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Interactive grid allows users to set and move starting and goal nodes.</a:t>
            </a:r>
          </a:p>
          <a:p>
            <a:pPr marL="731006" lvl="1" indent="-365503" algn="l">
              <a:lnSpc>
                <a:spcPts val="4740"/>
              </a:lnSpc>
              <a:buFont typeface="Arial"/>
              <a:buChar char="•"/>
            </a:pPr>
            <a:r>
              <a:rPr lang="en-US" sz="3385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Fine-tune animation speed for step-by-step or fast demo</a:t>
            </a:r>
          </a:p>
          <a:p>
            <a:pPr marL="731006" lvl="1" indent="-365503" algn="l">
              <a:lnSpc>
                <a:spcPts val="4740"/>
              </a:lnSpc>
              <a:buFont typeface="Arial"/>
              <a:buChar char="•"/>
            </a:pPr>
            <a:r>
              <a:rPr lang="en-US" sz="3385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Click to add or remove walls – customize obstacles easily.</a:t>
            </a:r>
          </a:p>
          <a:p>
            <a:pPr marL="731006" lvl="1" indent="-365503" algn="l">
              <a:lnSpc>
                <a:spcPts val="4740"/>
              </a:lnSpc>
              <a:buFont typeface="Arial"/>
              <a:buChar char="•"/>
            </a:pPr>
            <a:r>
              <a:rPr lang="en-US" sz="3385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"Find Path" button calculates and displays shortest path with clear visualization.</a:t>
            </a:r>
          </a:p>
          <a:p>
            <a:pPr marL="731006" lvl="1" indent="-365503" algn="l">
              <a:lnSpc>
                <a:spcPts val="4740"/>
              </a:lnSpc>
              <a:buFont typeface="Arial"/>
              <a:buChar char="•"/>
            </a:pPr>
            <a:r>
              <a:rPr lang="en-US" sz="3385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"Clear Path" lets you find a new route, "Clear All" resets everything for fresh testing.</a:t>
            </a:r>
          </a:p>
          <a:p>
            <a:pPr algn="l">
              <a:lnSpc>
                <a:spcPts val="4740"/>
              </a:lnSpc>
            </a:pPr>
            <a:endParaRPr lang="en-US" sz="3385">
              <a:solidFill>
                <a:srgbClr val="000000"/>
              </a:solidFill>
              <a:latin typeface="DG Jory"/>
              <a:ea typeface="DG Jory"/>
              <a:cs typeface="DG Jory"/>
              <a:sym typeface="DG Jory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6021566" y="1558017"/>
            <a:ext cx="5994124" cy="1773322"/>
            <a:chOff x="0" y="0"/>
            <a:chExt cx="27474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47400" cy="812800"/>
            </a:xfrm>
            <a:custGeom>
              <a:avLst/>
              <a:gdLst/>
              <a:ahLst/>
              <a:cxnLst/>
              <a:rect l="l" t="t" r="r" b="b"/>
              <a:pathLst>
                <a:path w="2747400" h="8128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2747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163750" y="1700201"/>
            <a:ext cx="5994124" cy="1773322"/>
            <a:chOff x="0" y="0"/>
            <a:chExt cx="27474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747400" cy="812800"/>
            </a:xfrm>
            <a:custGeom>
              <a:avLst/>
              <a:gdLst/>
              <a:ahLst/>
              <a:cxnLst/>
              <a:rect l="l" t="t" r="r" b="b"/>
              <a:pathLst>
                <a:path w="2747400" h="8128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6C3D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2747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6130126" y="2070379"/>
            <a:ext cx="6027748" cy="748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17"/>
              </a:lnSpc>
            </a:pPr>
            <a:r>
              <a:rPr lang="en-US" sz="493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KEY FEATURES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3082137" y="-495020"/>
            <a:ext cx="9287959" cy="8409825"/>
          </a:xfrm>
          <a:custGeom>
            <a:avLst/>
            <a:gdLst/>
            <a:ahLst/>
            <a:cxnLst/>
            <a:rect l="l" t="t" r="r" b="b"/>
            <a:pathLst>
              <a:path w="9287959" h="8409825">
                <a:moveTo>
                  <a:pt x="9287960" y="8409824"/>
                </a:moveTo>
                <a:lnTo>
                  <a:pt x="0" y="8409824"/>
                </a:lnTo>
                <a:lnTo>
                  <a:pt x="0" y="0"/>
                </a:lnTo>
                <a:lnTo>
                  <a:pt x="9287960" y="0"/>
                </a:lnTo>
                <a:lnTo>
                  <a:pt x="9287960" y="840982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4607933" y="8049787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7"/>
                </a:lnTo>
                <a:lnTo>
                  <a:pt x="0" y="66642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 flipH="1">
            <a:off x="8303269" y="8738243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3" y="0"/>
                </a:moveTo>
                <a:lnTo>
                  <a:pt x="0" y="0"/>
                </a:lnTo>
                <a:lnTo>
                  <a:pt x="0" y="6664266"/>
                </a:lnTo>
                <a:lnTo>
                  <a:pt x="7360133" y="6664266"/>
                </a:lnTo>
                <a:lnTo>
                  <a:pt x="736013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grpSp>
        <p:nvGrpSpPr>
          <p:cNvPr id="5" name="Group 5"/>
          <p:cNvGrpSpPr/>
          <p:nvPr/>
        </p:nvGrpSpPr>
        <p:grpSpPr>
          <a:xfrm>
            <a:off x="1028700" y="1041016"/>
            <a:ext cx="10975966" cy="1915506"/>
            <a:chOff x="0" y="0"/>
            <a:chExt cx="14634622" cy="2554008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14295524" cy="2364429"/>
              <a:chOff x="0" y="0"/>
              <a:chExt cx="4914252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91425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4914252" h="812800">
                    <a:moveTo>
                      <a:pt x="4914252" y="0"/>
                    </a:moveTo>
                    <a:lnTo>
                      <a:pt x="0" y="0"/>
                    </a:lnTo>
                    <a:lnTo>
                      <a:pt x="0" y="624840"/>
                    </a:lnTo>
                    <a:lnTo>
                      <a:pt x="157480" y="624840"/>
                    </a:lnTo>
                    <a:lnTo>
                      <a:pt x="157480" y="812800"/>
                    </a:lnTo>
                    <a:lnTo>
                      <a:pt x="463550" y="624840"/>
                    </a:lnTo>
                    <a:lnTo>
                      <a:pt x="4914252" y="624840"/>
                    </a:lnTo>
                    <a:lnTo>
                      <a:pt x="4914252" y="0"/>
                    </a:lnTo>
                    <a:close/>
                  </a:path>
                </a:pathLst>
              </a:custGeom>
              <a:solidFill>
                <a:srgbClr val="9BDAE9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4914252" cy="6699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339097" y="189578"/>
              <a:ext cx="14295524" cy="2364429"/>
              <a:chOff x="0" y="0"/>
              <a:chExt cx="4914252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1425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4914252" h="812800">
                    <a:moveTo>
                      <a:pt x="4914252" y="0"/>
                    </a:moveTo>
                    <a:lnTo>
                      <a:pt x="0" y="0"/>
                    </a:lnTo>
                    <a:lnTo>
                      <a:pt x="0" y="624840"/>
                    </a:lnTo>
                    <a:lnTo>
                      <a:pt x="157480" y="624840"/>
                    </a:lnTo>
                    <a:lnTo>
                      <a:pt x="157480" y="812800"/>
                    </a:lnTo>
                    <a:lnTo>
                      <a:pt x="463550" y="624840"/>
                    </a:lnTo>
                    <a:lnTo>
                      <a:pt x="4914252" y="624840"/>
                    </a:lnTo>
                    <a:lnTo>
                      <a:pt x="4914252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6C3D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47625"/>
                <a:ext cx="4914252" cy="6699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258908" y="683149"/>
              <a:ext cx="14375714" cy="9981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917"/>
                </a:lnSpc>
              </a:pPr>
              <a:r>
                <a:rPr lang="en-US" sz="4930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USER INTERACTION EXAMPLE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8303269" y="2956522"/>
            <a:ext cx="8479228" cy="6301778"/>
          </a:xfrm>
          <a:custGeom>
            <a:avLst/>
            <a:gdLst/>
            <a:ahLst/>
            <a:cxnLst/>
            <a:rect l="l" t="t" r="r" b="b"/>
            <a:pathLst>
              <a:path w="8479228" h="6301778">
                <a:moveTo>
                  <a:pt x="0" y="0"/>
                </a:moveTo>
                <a:lnTo>
                  <a:pt x="8479228" y="0"/>
                </a:lnTo>
                <a:lnTo>
                  <a:pt x="8479228" y="6301778"/>
                </a:lnTo>
                <a:lnTo>
                  <a:pt x="0" y="63017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660" r="-366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TextBox 14"/>
          <p:cNvSpPr txBox="1"/>
          <p:nvPr/>
        </p:nvSpPr>
        <p:spPr>
          <a:xfrm>
            <a:off x="1028700" y="3285093"/>
            <a:ext cx="6239107" cy="5758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06243" lvl="1" indent="-353122" algn="l">
              <a:lnSpc>
                <a:spcPts val="4579"/>
              </a:lnSpc>
              <a:buFont typeface="Arial"/>
              <a:buChar char="•"/>
            </a:pPr>
            <a:r>
              <a:rPr lang="en-US" sz="3271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Step 1: Place start and goal cells anywhere</a:t>
            </a:r>
          </a:p>
          <a:p>
            <a:pPr marL="706243" lvl="1" indent="-353122" algn="l">
              <a:lnSpc>
                <a:spcPts val="4579"/>
              </a:lnSpc>
              <a:buFont typeface="Arial"/>
              <a:buChar char="•"/>
            </a:pPr>
            <a:r>
              <a:rPr lang="en-US" sz="3271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Step 2: Draw or erase walls directly on the grid</a:t>
            </a:r>
          </a:p>
          <a:p>
            <a:pPr marL="706243" lvl="1" indent="-353122" algn="l">
              <a:lnSpc>
                <a:spcPts val="4579"/>
              </a:lnSpc>
              <a:buFont typeface="Arial"/>
              <a:buChar char="•"/>
            </a:pPr>
            <a:r>
              <a:rPr lang="en-US" sz="3271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Step 3: Adjust speed bar (slow for demo, fast for quick results)</a:t>
            </a:r>
          </a:p>
          <a:p>
            <a:pPr marL="706243" lvl="1" indent="-353122" algn="l">
              <a:lnSpc>
                <a:spcPts val="4579"/>
              </a:lnSpc>
              <a:buFont typeface="Arial"/>
              <a:buChar char="•"/>
            </a:pPr>
            <a:r>
              <a:rPr lang="en-US" sz="3271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Step 4: Click “Find Path” to see the shortest route appear</a:t>
            </a:r>
          </a:p>
          <a:p>
            <a:pPr marL="706243" lvl="1" indent="-353122" algn="l">
              <a:lnSpc>
                <a:spcPts val="4579"/>
              </a:lnSpc>
              <a:buFont typeface="Arial"/>
              <a:buChar char="•"/>
            </a:pPr>
            <a:r>
              <a:rPr lang="en-US" sz="3271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Step 5: Use clear buttons to experiment with new setups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3914141" y="-810161"/>
            <a:ext cx="9287959" cy="8409825"/>
          </a:xfrm>
          <a:custGeom>
            <a:avLst/>
            <a:gdLst/>
            <a:ahLst/>
            <a:cxnLst/>
            <a:rect l="l" t="t" r="r" b="b"/>
            <a:pathLst>
              <a:path w="9287959" h="8409825">
                <a:moveTo>
                  <a:pt x="9287959" y="8409825"/>
                </a:moveTo>
                <a:lnTo>
                  <a:pt x="0" y="8409825"/>
                </a:lnTo>
                <a:lnTo>
                  <a:pt x="0" y="0"/>
                </a:lnTo>
                <a:lnTo>
                  <a:pt x="9287959" y="0"/>
                </a:lnTo>
                <a:lnTo>
                  <a:pt x="9287959" y="840982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4607933" y="8049787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7"/>
                </a:lnTo>
                <a:lnTo>
                  <a:pt x="0" y="66642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 flipH="1">
            <a:off x="8303269" y="8738243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3" y="0"/>
                </a:moveTo>
                <a:lnTo>
                  <a:pt x="0" y="0"/>
                </a:lnTo>
                <a:lnTo>
                  <a:pt x="0" y="6664266"/>
                </a:lnTo>
                <a:lnTo>
                  <a:pt x="7360133" y="6664266"/>
                </a:lnTo>
                <a:lnTo>
                  <a:pt x="736013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grpSp>
        <p:nvGrpSpPr>
          <p:cNvPr id="5" name="Group 5"/>
          <p:cNvGrpSpPr/>
          <p:nvPr/>
        </p:nvGrpSpPr>
        <p:grpSpPr>
          <a:xfrm>
            <a:off x="1202807" y="1621421"/>
            <a:ext cx="13114420" cy="2009590"/>
            <a:chOff x="0" y="0"/>
            <a:chExt cx="17485894" cy="2679453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17080730" cy="2364429"/>
              <a:chOff x="0" y="0"/>
              <a:chExt cx="5871699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5871699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5871699" h="812800">
                    <a:moveTo>
                      <a:pt x="5871699" y="0"/>
                    </a:moveTo>
                    <a:lnTo>
                      <a:pt x="0" y="0"/>
                    </a:lnTo>
                    <a:lnTo>
                      <a:pt x="0" y="624840"/>
                    </a:lnTo>
                    <a:lnTo>
                      <a:pt x="157480" y="624840"/>
                    </a:lnTo>
                    <a:lnTo>
                      <a:pt x="157480" y="812800"/>
                    </a:lnTo>
                    <a:lnTo>
                      <a:pt x="463550" y="624840"/>
                    </a:lnTo>
                    <a:lnTo>
                      <a:pt x="5871699" y="624840"/>
                    </a:lnTo>
                    <a:lnTo>
                      <a:pt x="5871699" y="0"/>
                    </a:lnTo>
                    <a:close/>
                  </a:path>
                </a:pathLst>
              </a:custGeom>
              <a:solidFill>
                <a:srgbClr val="9BDAE9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5871699" cy="6699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405164" y="189578"/>
              <a:ext cx="17080730" cy="2364429"/>
              <a:chOff x="0" y="0"/>
              <a:chExt cx="5871699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5871699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5871699" h="812800">
                    <a:moveTo>
                      <a:pt x="5871699" y="0"/>
                    </a:moveTo>
                    <a:lnTo>
                      <a:pt x="0" y="0"/>
                    </a:lnTo>
                    <a:lnTo>
                      <a:pt x="0" y="624840"/>
                    </a:lnTo>
                    <a:lnTo>
                      <a:pt x="157480" y="624840"/>
                    </a:lnTo>
                    <a:lnTo>
                      <a:pt x="157480" y="812800"/>
                    </a:lnTo>
                    <a:lnTo>
                      <a:pt x="463550" y="624840"/>
                    </a:lnTo>
                    <a:lnTo>
                      <a:pt x="5871699" y="624840"/>
                    </a:lnTo>
                    <a:lnTo>
                      <a:pt x="5871699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6C3D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47625"/>
                <a:ext cx="5871699" cy="6699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309351" y="683149"/>
              <a:ext cx="17176543" cy="19963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917"/>
                </a:lnSpc>
              </a:pPr>
              <a:r>
                <a:rPr lang="en-US" sz="4930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WHAT IS JUMP POINT SEARCH (JPS)?</a:t>
              </a:r>
            </a:p>
            <a:p>
              <a:pPr algn="ctr">
                <a:lnSpc>
                  <a:spcPts val="5917"/>
                </a:lnSpc>
              </a:pPr>
              <a:endParaRPr lang="en-US" sz="493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</p:grpSp>
      <p:sp>
        <p:nvSpPr>
          <p:cNvPr id="13" name="Freeform 13"/>
          <p:cNvSpPr/>
          <p:nvPr/>
        </p:nvSpPr>
        <p:spPr>
          <a:xfrm>
            <a:off x="8977567" y="4146349"/>
            <a:ext cx="7991064" cy="4051807"/>
          </a:xfrm>
          <a:custGeom>
            <a:avLst/>
            <a:gdLst/>
            <a:ahLst/>
            <a:cxnLst/>
            <a:rect l="l" t="t" r="r" b="b"/>
            <a:pathLst>
              <a:path w="7991064" h="4051807">
                <a:moveTo>
                  <a:pt x="0" y="0"/>
                </a:moveTo>
                <a:lnTo>
                  <a:pt x="7991064" y="0"/>
                </a:lnTo>
                <a:lnTo>
                  <a:pt x="7991064" y="4051807"/>
                </a:lnTo>
                <a:lnTo>
                  <a:pt x="0" y="40518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638" t="-3990" r="-3637" b="-5066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TextBox 14"/>
          <p:cNvSpPr txBox="1"/>
          <p:nvPr/>
        </p:nvSpPr>
        <p:spPr>
          <a:xfrm>
            <a:off x="1028700" y="3908446"/>
            <a:ext cx="6891898" cy="5390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0176" lvl="1" indent="-365088" algn="l">
              <a:lnSpc>
                <a:spcPts val="4734"/>
              </a:lnSpc>
              <a:buFont typeface="Arial"/>
              <a:buChar char="•"/>
            </a:pPr>
            <a:r>
              <a:rPr lang="en-US" sz="3382" b="1">
                <a:solidFill>
                  <a:srgbClr val="000000"/>
                </a:solidFill>
                <a:latin typeface="DG Jory Bold"/>
                <a:ea typeface="DG Jory Bold"/>
                <a:cs typeface="DG Jory Bold"/>
                <a:sym typeface="DG Jory Bold"/>
              </a:rPr>
              <a:t>JPS</a:t>
            </a:r>
            <a:r>
              <a:rPr lang="en-US" sz="3382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 is an advanced algorithm for grid maps</a:t>
            </a:r>
          </a:p>
          <a:p>
            <a:pPr marL="730176" lvl="1" indent="-365088" algn="l">
              <a:lnSpc>
                <a:spcPts val="4734"/>
              </a:lnSpc>
              <a:buFont typeface="Arial"/>
              <a:buChar char="•"/>
            </a:pPr>
            <a:r>
              <a:rPr lang="en-US" sz="3382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It speeds up searches by jumping over stretches of open cells</a:t>
            </a:r>
          </a:p>
          <a:p>
            <a:pPr marL="730176" lvl="1" indent="-365088" algn="l">
              <a:lnSpc>
                <a:spcPts val="4734"/>
              </a:lnSpc>
              <a:buFont typeface="Arial"/>
              <a:buChar char="•"/>
            </a:pPr>
            <a:r>
              <a:rPr lang="en-US" sz="3382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Only “</a:t>
            </a:r>
            <a:r>
              <a:rPr lang="en-US" sz="3382" b="1">
                <a:solidFill>
                  <a:srgbClr val="000000"/>
                </a:solidFill>
                <a:latin typeface="DG Jory Bold"/>
                <a:ea typeface="DG Jory Bold"/>
                <a:cs typeface="DG Jory Bold"/>
                <a:sym typeface="DG Jory Bold"/>
              </a:rPr>
              <a:t>jump points</a:t>
            </a:r>
            <a:r>
              <a:rPr lang="en-US" sz="3382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” (where direction changes, or an obstacle/goal is found) are checked</a:t>
            </a:r>
          </a:p>
          <a:p>
            <a:pPr marL="730176" lvl="1" indent="-365088" algn="l">
              <a:lnSpc>
                <a:spcPts val="4734"/>
              </a:lnSpc>
              <a:buFont typeface="Arial"/>
              <a:buChar char="•"/>
            </a:pPr>
            <a:r>
              <a:rPr lang="en-US" sz="3382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Ideal for large, open grids where other algorithms slow down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885503"/>
            <a:ext cx="8586367" cy="2009590"/>
            <a:chOff x="0" y="0"/>
            <a:chExt cx="11448490" cy="2679453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11183218" cy="2364429"/>
              <a:chOff x="0" y="0"/>
              <a:chExt cx="3844361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3844361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844361" h="812800">
                    <a:moveTo>
                      <a:pt x="3844361" y="0"/>
                    </a:moveTo>
                    <a:lnTo>
                      <a:pt x="0" y="0"/>
                    </a:lnTo>
                    <a:lnTo>
                      <a:pt x="0" y="624840"/>
                    </a:lnTo>
                    <a:lnTo>
                      <a:pt x="157480" y="624840"/>
                    </a:lnTo>
                    <a:lnTo>
                      <a:pt x="157480" y="812800"/>
                    </a:lnTo>
                    <a:lnTo>
                      <a:pt x="463550" y="624840"/>
                    </a:lnTo>
                    <a:lnTo>
                      <a:pt x="3844361" y="624840"/>
                    </a:lnTo>
                    <a:lnTo>
                      <a:pt x="3844361" y="0"/>
                    </a:lnTo>
                    <a:close/>
                  </a:path>
                </a:pathLst>
              </a:custGeom>
              <a:solidFill>
                <a:srgbClr val="9BDAE9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3844361" cy="6699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265272" y="189578"/>
              <a:ext cx="11183218" cy="2364429"/>
              <a:chOff x="0" y="0"/>
              <a:chExt cx="3844361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3844361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844361" h="812800">
                    <a:moveTo>
                      <a:pt x="3844361" y="0"/>
                    </a:moveTo>
                    <a:lnTo>
                      <a:pt x="0" y="0"/>
                    </a:lnTo>
                    <a:lnTo>
                      <a:pt x="0" y="624840"/>
                    </a:lnTo>
                    <a:lnTo>
                      <a:pt x="157480" y="624840"/>
                    </a:lnTo>
                    <a:lnTo>
                      <a:pt x="157480" y="812800"/>
                    </a:lnTo>
                    <a:lnTo>
                      <a:pt x="463550" y="624840"/>
                    </a:lnTo>
                    <a:lnTo>
                      <a:pt x="3844361" y="624840"/>
                    </a:lnTo>
                    <a:lnTo>
                      <a:pt x="3844361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6C3D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3844361" cy="6699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202541" y="683149"/>
              <a:ext cx="11245949" cy="19963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917"/>
                </a:lnSpc>
              </a:pPr>
              <a:r>
                <a:rPr lang="en-US" sz="4930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HOW DOES JPS WORK?</a:t>
              </a:r>
            </a:p>
            <a:p>
              <a:pPr algn="ctr">
                <a:lnSpc>
                  <a:spcPts val="5917"/>
                </a:lnSpc>
              </a:pPr>
              <a:endParaRPr lang="en-US" sz="493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28700" y="3590515"/>
            <a:ext cx="6721749" cy="5804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89713" lvl="1" indent="-394856" algn="l">
              <a:lnSpc>
                <a:spcPts val="5120"/>
              </a:lnSpc>
              <a:buFont typeface="Arial"/>
              <a:buChar char="•"/>
            </a:pPr>
            <a:r>
              <a:rPr lang="en-US" sz="3657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Starts at the defined start cell</a:t>
            </a:r>
          </a:p>
          <a:p>
            <a:pPr marL="789713" lvl="1" indent="-394856" algn="l">
              <a:lnSpc>
                <a:spcPts val="5120"/>
              </a:lnSpc>
              <a:buFont typeface="Arial"/>
              <a:buChar char="•"/>
            </a:pPr>
            <a:r>
              <a:rPr lang="en-US" sz="3657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Jumps in straight lines (up, down, left, right, diagonals)</a:t>
            </a:r>
          </a:p>
          <a:p>
            <a:pPr marL="789713" lvl="1" indent="-394856" algn="l">
              <a:lnSpc>
                <a:spcPts val="5120"/>
              </a:lnSpc>
              <a:buFont typeface="Arial"/>
              <a:buChar char="•"/>
            </a:pPr>
            <a:r>
              <a:rPr lang="en-US" sz="3657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Stops to check only at obstacles, forced turns, or the goal</a:t>
            </a:r>
          </a:p>
          <a:p>
            <a:pPr marL="789713" lvl="1" indent="-394856" algn="l">
              <a:lnSpc>
                <a:spcPts val="5120"/>
              </a:lnSpc>
              <a:buFont typeface="Arial"/>
              <a:buChar char="•"/>
            </a:pPr>
            <a:r>
              <a:rPr lang="en-US" sz="3657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Builds the full shortest path by connecting these critical points</a:t>
            </a:r>
          </a:p>
          <a:p>
            <a:pPr algn="l">
              <a:lnSpc>
                <a:spcPts val="5120"/>
              </a:lnSpc>
            </a:pPr>
            <a:endParaRPr lang="en-US" sz="3657">
              <a:solidFill>
                <a:srgbClr val="000000"/>
              </a:solidFill>
              <a:latin typeface="DG Jory"/>
              <a:ea typeface="DG Jory"/>
              <a:cs typeface="DG Jory"/>
              <a:sym typeface="DG Jory"/>
            </a:endParaRPr>
          </a:p>
        </p:txBody>
      </p:sp>
      <p:sp>
        <p:nvSpPr>
          <p:cNvPr id="11" name="Freeform 11"/>
          <p:cNvSpPr/>
          <p:nvPr/>
        </p:nvSpPr>
        <p:spPr>
          <a:xfrm flipH="1" flipV="1">
            <a:off x="13914141" y="-810161"/>
            <a:ext cx="9287959" cy="8409825"/>
          </a:xfrm>
          <a:custGeom>
            <a:avLst/>
            <a:gdLst/>
            <a:ahLst/>
            <a:cxnLst/>
            <a:rect l="l" t="t" r="r" b="b"/>
            <a:pathLst>
              <a:path w="9287959" h="8409825">
                <a:moveTo>
                  <a:pt x="9287959" y="8409825"/>
                </a:moveTo>
                <a:lnTo>
                  <a:pt x="0" y="8409825"/>
                </a:lnTo>
                <a:lnTo>
                  <a:pt x="0" y="0"/>
                </a:lnTo>
                <a:lnTo>
                  <a:pt x="9287959" y="0"/>
                </a:lnTo>
                <a:lnTo>
                  <a:pt x="9287959" y="840982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Freeform 12"/>
          <p:cNvSpPr/>
          <p:nvPr/>
        </p:nvSpPr>
        <p:spPr>
          <a:xfrm>
            <a:off x="14607933" y="8049787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7"/>
                </a:lnTo>
                <a:lnTo>
                  <a:pt x="0" y="66642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4" name="Freeform 14"/>
          <p:cNvSpPr/>
          <p:nvPr/>
        </p:nvSpPr>
        <p:spPr>
          <a:xfrm flipH="1">
            <a:off x="8303269" y="8738243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3" y="0"/>
                </a:moveTo>
                <a:lnTo>
                  <a:pt x="0" y="0"/>
                </a:lnTo>
                <a:lnTo>
                  <a:pt x="0" y="6664266"/>
                </a:lnTo>
                <a:lnTo>
                  <a:pt x="7360133" y="6664266"/>
                </a:lnTo>
                <a:lnTo>
                  <a:pt x="736013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382DB25-F255-C250-DD70-E7DEDE1ECA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10" t="24012" r="55001" b="48462"/>
          <a:stretch>
            <a:fillRect/>
          </a:stretch>
        </p:blipFill>
        <p:spPr>
          <a:xfrm>
            <a:off x="10287000" y="3364787"/>
            <a:ext cx="6756021" cy="55857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680067" y="4897467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flipH="1" flipV="1">
            <a:off x="14607933" y="-126175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14757022" y="6029979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 flipH="1" flipV="1">
            <a:off x="-3530978" y="-240724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4256270" y="3839975"/>
            <a:ext cx="10073637" cy="4833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46940" lvl="1" indent="-423470" algn="just">
              <a:lnSpc>
                <a:spcPts val="5491"/>
              </a:lnSpc>
              <a:buFont typeface="Arial"/>
              <a:buChar char="•"/>
            </a:pPr>
            <a:r>
              <a:rPr lang="en-US" sz="3922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Skips checking all unnecessary middle cells between obstacles</a:t>
            </a:r>
          </a:p>
          <a:p>
            <a:pPr marL="846940" lvl="1" indent="-423470" algn="just">
              <a:lnSpc>
                <a:spcPts val="5491"/>
              </a:lnSpc>
              <a:buFont typeface="Arial"/>
              <a:buChar char="•"/>
            </a:pPr>
            <a:r>
              <a:rPr lang="en-US" sz="3922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Focuses on potential path changes, reducing redundancy</a:t>
            </a:r>
          </a:p>
          <a:p>
            <a:pPr marL="846940" lvl="1" indent="-423470" algn="just">
              <a:lnSpc>
                <a:spcPts val="5491"/>
              </a:lnSpc>
              <a:buFont typeface="Arial"/>
              <a:buChar char="•"/>
            </a:pPr>
            <a:r>
              <a:rPr lang="en-US" sz="3922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Makes real-time pathfinding and animation practical, even with speed slowed for learning</a:t>
            </a:r>
          </a:p>
          <a:p>
            <a:pPr algn="just">
              <a:lnSpc>
                <a:spcPts val="5491"/>
              </a:lnSpc>
            </a:pPr>
            <a:endParaRPr lang="en-US" sz="3922">
              <a:solidFill>
                <a:srgbClr val="000000"/>
              </a:solidFill>
              <a:latin typeface="DG Jory"/>
              <a:ea typeface="DG Jory"/>
              <a:cs typeface="DG Jory"/>
              <a:sym typeface="DG Jory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5130424" y="1332916"/>
            <a:ext cx="8027151" cy="2009590"/>
            <a:chOff x="0" y="0"/>
            <a:chExt cx="10702868" cy="2679453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10454873" cy="2364429"/>
              <a:chOff x="0" y="0"/>
              <a:chExt cx="3593984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3593984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593984" h="812800">
                    <a:moveTo>
                      <a:pt x="3593984" y="0"/>
                    </a:moveTo>
                    <a:lnTo>
                      <a:pt x="0" y="0"/>
                    </a:lnTo>
                    <a:lnTo>
                      <a:pt x="0" y="624840"/>
                    </a:lnTo>
                    <a:lnTo>
                      <a:pt x="157480" y="624840"/>
                    </a:lnTo>
                    <a:lnTo>
                      <a:pt x="157480" y="812800"/>
                    </a:lnTo>
                    <a:lnTo>
                      <a:pt x="463550" y="624840"/>
                    </a:lnTo>
                    <a:lnTo>
                      <a:pt x="3593984" y="624840"/>
                    </a:lnTo>
                    <a:lnTo>
                      <a:pt x="3593984" y="0"/>
                    </a:lnTo>
                    <a:close/>
                  </a:path>
                </a:pathLst>
              </a:custGeom>
              <a:solidFill>
                <a:srgbClr val="9BDAE9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3593984" cy="6699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247995" y="189578"/>
              <a:ext cx="10454873" cy="2364429"/>
              <a:chOff x="0" y="0"/>
              <a:chExt cx="3593984" cy="8128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3593984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3593984" h="812800">
                    <a:moveTo>
                      <a:pt x="3593984" y="0"/>
                    </a:moveTo>
                    <a:lnTo>
                      <a:pt x="0" y="0"/>
                    </a:lnTo>
                    <a:lnTo>
                      <a:pt x="0" y="624840"/>
                    </a:lnTo>
                    <a:lnTo>
                      <a:pt x="157480" y="624840"/>
                    </a:lnTo>
                    <a:lnTo>
                      <a:pt x="157480" y="812800"/>
                    </a:lnTo>
                    <a:lnTo>
                      <a:pt x="463550" y="624840"/>
                    </a:lnTo>
                    <a:lnTo>
                      <a:pt x="3593984" y="624840"/>
                    </a:lnTo>
                    <a:lnTo>
                      <a:pt x="3593984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6C3D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-47625"/>
                <a:ext cx="3593984" cy="6699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189349" y="683149"/>
              <a:ext cx="10513519" cy="19963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917"/>
                </a:lnSpc>
              </a:pPr>
              <a:r>
                <a:rPr lang="en-US" sz="4930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WHY IS JPS FASTER?</a:t>
              </a:r>
            </a:p>
            <a:p>
              <a:pPr algn="ctr">
                <a:lnSpc>
                  <a:spcPts val="5917"/>
                </a:lnSpc>
              </a:pPr>
              <a:endParaRPr lang="en-US" sz="493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680067" y="4897467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flipH="1" flipV="1">
            <a:off x="14607933" y="-126175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14757022" y="6029979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 flipH="1" flipV="1">
            <a:off x="-3530978" y="-240724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4751838" y="3636104"/>
            <a:ext cx="8784324" cy="1261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012"/>
              </a:lnSpc>
              <a:spcBef>
                <a:spcPct val="0"/>
              </a:spcBef>
            </a:pPr>
            <a:r>
              <a:rPr lang="en-US" sz="8344" b="1" u="none" strike="noStrike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651621" y="5083912"/>
            <a:ext cx="10984759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80"/>
              </a:lnSpc>
            </a:pPr>
            <a:r>
              <a:rPr lang="en-US" sz="3400" dirty="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By: Kushagra Gupta(24BCE1671) &amp; Riddhima Singhal (24BCE1157)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20E51576-782F-FF22-0C79-4D9CCD035930}"/>
              </a:ext>
            </a:extLst>
          </p:cNvPr>
          <p:cNvSpPr txBox="1"/>
          <p:nvPr/>
        </p:nvSpPr>
        <p:spPr>
          <a:xfrm>
            <a:off x="4245275" y="5607787"/>
            <a:ext cx="10521579" cy="525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80"/>
              </a:lnSpc>
            </a:pP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DG Jory"/>
                <a:ea typeface="DG Jory"/>
                <a:cs typeface="DG Jory"/>
                <a:sym typeface="DG Jory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DG Jory"/>
                <a:ea typeface="DG Jory"/>
                <a:cs typeface="DG Jory"/>
                <a:sym typeface="DG Jory"/>
              </a:rPr>
              <a:t>   </a:t>
            </a:r>
            <a:r>
              <a:rPr lang="en-US" sz="2400" b="1" dirty="0">
                <a:latin typeface="DG Jory"/>
                <a:ea typeface="DG Jory"/>
                <a:cs typeface="DG Jory"/>
                <a:sym typeface="DG Jory"/>
              </a:rPr>
              <a:t> &amp;  </a:t>
            </a:r>
            <a:r>
              <a:rPr lang="en-US" sz="2400" b="1" dirty="0">
                <a:latin typeface="DG Jory"/>
                <a:ea typeface="DG Jory"/>
                <a:cs typeface="DG Jory"/>
                <a:sym typeface="DG Jory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DG Jory"/>
                <a:ea typeface="DG Jory"/>
                <a:cs typeface="DG Jory"/>
                <a:sym typeface="DG Jory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Vercel</a:t>
            </a:r>
            <a:r>
              <a:rPr lang="en-US" sz="2400" dirty="0">
                <a:solidFill>
                  <a:srgbClr val="800080"/>
                </a:solidFill>
                <a:latin typeface="DG Jory"/>
                <a:ea typeface="DG Jory"/>
                <a:cs typeface="DG Jory"/>
                <a:sym typeface="DG Jory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DG Jory"/>
                <a:ea typeface="DG Jory"/>
                <a:cs typeface="DG Jory"/>
                <a:sym typeface="DG Jory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deploy link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DG Jory"/>
                <a:ea typeface="DG Jory"/>
                <a:cs typeface="DG Jory"/>
                <a:sym typeface="DG Jory"/>
              </a:rPr>
              <a:t> 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612</Words>
  <Application>Microsoft Office PowerPoint</Application>
  <PresentationFormat>Custom</PresentationFormat>
  <Paragraphs>68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DG Jory Bold</vt:lpstr>
      <vt:lpstr>DG Jory</vt:lpstr>
      <vt:lpstr>League Spartan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jps ppt</dc:title>
  <cp:lastModifiedBy>ajay singhal</cp:lastModifiedBy>
  <cp:revision>3</cp:revision>
  <dcterms:created xsi:type="dcterms:W3CDTF">2006-08-16T00:00:00Z</dcterms:created>
  <dcterms:modified xsi:type="dcterms:W3CDTF">2025-11-11T06:21:18Z</dcterms:modified>
  <dc:identifier>DAG4SMWH2Ts</dc:identifier>
</cp:coreProperties>
</file>